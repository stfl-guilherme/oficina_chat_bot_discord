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97000" y="812800"/>
            <a:ext cx="5124549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97000" y="1620441"/>
            <a:ext cx="99822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397000" y="812800"/>
            <a:ext cx="5124549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397000" y="1620441"/>
            <a:ext cx="99822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86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Bit, o mascote, acenando entre balões de chat">    </p:cNvPr>
          <p:cNvPicPr>
            <a:picLocks noChangeAspect="1"/>
          </p:cNvPicPr>
          <p:nvPr/>
        </p:nvPicPr>
        <p:blipFill>
          <a:blip r:embed="rId2"/>
          <a:srcRect l="0" r="0" t="-17" b="-17"/>
          <a:stretch/>
        </p:blipFill>
        <p:spPr>
          <a:xfrm>
            <a:off x="6807200" y="1714500"/>
            <a:ext cx="4572000" cy="3429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812800" y="2021880"/>
            <a:ext cx="588645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seu chatbot de IA no Discord com Python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6060"/>
            <a:ext cx="588645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4E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Acadêmica de Sistemas de Informação · TecnoAMF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840878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vai ter no fim da aula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1925241"/>
            <a:ext cx="9156700" cy="125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bot no seu servidor do Discord que responde quando é mencionado, lembra a conversa do canal e tem a personalidade que você escrever.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812800" y="3769221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memória fica no seu computador: ao reiniciar o bot, ele esquece a conversa.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703373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as peças conversam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2033191"/>
            <a:ext cx="3035300" cy="1765300"/>
          </a:xfrm>
          <a:prstGeom prst="roundRect">
            <a:avLst>
              <a:gd name="adj" fmla="val 5396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90278" y="2506960"/>
            <a:ext cx="1493044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825500" y="3004741"/>
            <a:ext cx="302250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(mensagem do usuário)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987800" y="2595761"/>
            <a:ext cx="54864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4578350" y="2033191"/>
            <a:ext cx="3035300" cy="1765300"/>
          </a:xfrm>
          <a:prstGeom prst="roundRect">
            <a:avLst>
              <a:gd name="adj" fmla="val 5396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82706" y="2506960"/>
            <a:ext cx="1426488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bot.py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281255" y="3004741"/>
            <a:ext cx="162948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(seu código)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747000" y="2595761"/>
            <a:ext cx="54864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8337550" y="2033191"/>
            <a:ext cx="3035300" cy="1765300"/>
          </a:xfrm>
          <a:prstGeom prst="roundRect">
            <a:avLst>
              <a:gd name="adj" fmla="val 5396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4793" y="2506960"/>
            <a:ext cx="2700814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do Gemini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746847" y="3004741"/>
            <a:ext cx="221670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(gera a resposta)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12800" y="4414441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bot é só o intermediário: recebe, repassa, devolve.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482488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de hoje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2033191"/>
            <a:ext cx="1969591" cy="1902420"/>
          </a:xfrm>
          <a:prstGeom prst="roundRect">
            <a:avLst>
              <a:gd name="adj" fmla="val 500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03300" y="2293541"/>
            <a:ext cx="165209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0:20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1003300" y="2964061"/>
            <a:ext cx="16520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896691" y="2735461"/>
            <a:ext cx="4267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3360241" y="2033191"/>
            <a:ext cx="2450009" cy="1902420"/>
          </a:xfrm>
          <a:prstGeom prst="roundRect">
            <a:avLst>
              <a:gd name="adj" fmla="val 500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44391" y="2293541"/>
            <a:ext cx="2144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1:00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544391" y="2964061"/>
            <a:ext cx="2144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Personalidade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918200" y="2735461"/>
            <a:ext cx="4267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6381750" y="2033191"/>
            <a:ext cx="1969591" cy="1902420"/>
          </a:xfrm>
          <a:prstGeom prst="roundRect">
            <a:avLst>
              <a:gd name="adj" fmla="val 500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65900" y="2293541"/>
            <a:ext cx="165209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1:55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6565900" y="2964061"/>
            <a:ext cx="16520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459291" y="2735461"/>
            <a:ext cx="4267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922841" y="2033191"/>
            <a:ext cx="2450009" cy="1902420"/>
          </a:xfrm>
          <a:prstGeom prst="roundRect">
            <a:avLst>
              <a:gd name="adj" fmla="val 500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06991" y="2293541"/>
            <a:ext cx="2144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2:40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9106991" y="2964061"/>
            <a:ext cx="21441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calling e segurança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12800" y="4551561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Meta: até 1h40 seu bot está no ar.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86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572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SETUP</a:t>
            </a:r>
            <a:endParaRPr lang="en-US" sz="1800" dirty="0"/>
          </a:p>
        </p:txBody>
      </p:sp>
      <p:pic>
        <p:nvPicPr>
          <p:cNvPr id="4" name="Image 1" descr="Bit segurando uma chave inglesa">    </p:cNvPr>
          <p:cNvPicPr>
            <a:picLocks noChangeAspect="1"/>
          </p:cNvPicPr>
          <p:nvPr/>
        </p:nvPicPr>
        <p:blipFill>
          <a:blip r:embed="rId2"/>
          <a:srcRect l="-23" r="-23" t="0" b="0"/>
          <a:stretch/>
        </p:blipFill>
        <p:spPr>
          <a:xfrm>
            <a:off x="7823200" y="1968500"/>
            <a:ext cx="3556000" cy="294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6802120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antes de começar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812800" y="2449711"/>
            <a:ext cx="6604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2800" y="2621161"/>
            <a:ext cx="68021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3.10 ou mais novo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12800" y="3112591"/>
            <a:ext cx="6604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3284041"/>
            <a:ext cx="68021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no Discord e um servidor seu para testes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12800" y="3775472"/>
            <a:ext cx="6604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2800" y="3946922"/>
            <a:ext cx="68021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Google para gerar a chave do Gemini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2800" y="4438352"/>
            <a:ext cx="6604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12800" y="5101233"/>
            <a:ext cx="6604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800" y="4609802"/>
            <a:ext cx="68021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 de código (VS Code)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pequeno olhando para o terminal">    </p:cNvPr>
          <p:cNvPicPr>
            <a:picLocks noChangeAspect="1"/>
          </p:cNvPicPr>
          <p:nvPr/>
        </p:nvPicPr>
        <p:blipFill>
          <a:blip r:embed="rId2"/>
          <a:srcRect l="0" r="0" t="-93" b="-93"/>
          <a:stretch/>
        </p:blipFill>
        <p:spPr>
          <a:xfrm>
            <a:off x="10490200" y="4953000"/>
            <a:ext cx="889000" cy="914400"/>
          </a:xfrm>
          <a:prstGeom prst="rect">
            <a:avLst/>
          </a:prstGeom>
        </p:spPr>
      </p:pic>
      <p:pic>
        <p:nvPicPr>
          <p:cNvPr id="5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500562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Confira seu Python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17220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(PowerShell)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815975" y="2172196"/>
            <a:ext cx="5124450" cy="1984871"/>
          </a:xfrm>
          <a:prstGeom prst="roundRect">
            <a:avLst>
              <a:gd name="adj" fmla="val 3679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19150" y="21753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0" name="Shape 5"/>
          <p:cNvSpPr/>
          <p:nvPr/>
        </p:nvSpPr>
        <p:spPr>
          <a:xfrm>
            <a:off x="9461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1" name="Shape 6"/>
          <p:cNvSpPr/>
          <p:nvPr/>
        </p:nvSpPr>
        <p:spPr>
          <a:xfrm>
            <a:off x="10985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2" name="Shape 7"/>
          <p:cNvSpPr/>
          <p:nvPr/>
        </p:nvSpPr>
        <p:spPr>
          <a:xfrm>
            <a:off x="12509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3" name="Text 8"/>
          <p:cNvSpPr/>
          <p:nvPr/>
        </p:nvSpPr>
        <p:spPr>
          <a:xfrm>
            <a:off x="1073150" y="2645271"/>
            <a:ext cx="47484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--version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73150" y="3137991"/>
            <a:ext cx="474840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9B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não funcionar: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073150" y="3559572"/>
            <a:ext cx="47484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 --version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248400" y="17220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/ macOS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251575" y="2172196"/>
            <a:ext cx="5124450" cy="1070570"/>
          </a:xfrm>
          <a:prstGeom prst="roundRect">
            <a:avLst>
              <a:gd name="adj" fmla="val 6821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54750" y="21753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817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41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21" name="Shape 16"/>
          <p:cNvSpPr/>
          <p:nvPr/>
        </p:nvSpPr>
        <p:spPr>
          <a:xfrm>
            <a:off x="6686550" y="22642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2" name="Text 17"/>
          <p:cNvSpPr/>
          <p:nvPr/>
        </p:nvSpPr>
        <p:spPr>
          <a:xfrm>
            <a:off x="6508750" y="2645271"/>
            <a:ext cx="47484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python3 --version</a:t>
            </a:r>
            <a:endParaRPr lang="en-US" sz="2200" dirty="0"/>
          </a:p>
        </p:txBody>
      </p:sp>
      <p:pic>
        <p:nvPicPr>
          <p:cNvPr id="23" name="Image 3" descr="Warning">    </p:cNvPr>
          <p:cNvPicPr>
            <a:picLocks noChangeAspect="1"/>
          </p:cNvPicPr>
          <p:nvPr/>
        </p:nvPicPr>
        <p:blipFill>
          <a:blip r:embed="rId4"/>
          <a:srcRect l="0" r="0" t="-168" b="-168"/>
          <a:stretch/>
        </p:blipFill>
        <p:spPr>
          <a:xfrm>
            <a:off x="812800" y="4566642"/>
            <a:ext cx="265807" cy="279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5607" y="4566642"/>
            <a:ext cx="927534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Windows, 'python' não reconhecido = reinstale marcando 'Add python.exe to PATH'.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642473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Criando o bot no Discord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172204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discord.com/developers/applications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Application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2800" y="230624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Aba Bot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Reset Token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copie o token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2800" y="289044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Na mesma aba, ligue Message Content Intent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12800" y="3474641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Crie um servidor seu no Discord (botão + na barra lateral)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OAuth2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URL Generator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marque 'bot' </a:t>
            </a:r>
            <a:r>
              <a:rPr lang="en-US" sz="20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convide o bot para o SEU servidor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19150" y="4598591"/>
            <a:ext cx="10553700" cy="723900"/>
          </a:xfrm>
          <a:prstGeom prst="roundRect">
            <a:avLst>
              <a:gd name="adj" fmla="val 13158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pic>
        <p:nvPicPr>
          <p:cNvPr id="11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9500" y="480814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6700" y="4782741"/>
            <a:ext cx="84570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convida bot quem é dono ou tem 'Gerenciar Servidor'.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segurando um cadeado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8331200" y="2095500"/>
            <a:ext cx="2921000" cy="2965450"/>
          </a:xfrm>
          <a:prstGeom prst="rect">
            <a:avLst/>
          </a:prstGeom>
        </p:spPr>
      </p:pic>
      <p:pic>
        <p:nvPicPr>
          <p:cNvPr id="5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375749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é senha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2077641"/>
            <a:ext cx="6932930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spc="-50" kern="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tem seu token controla seu bot.</a:t>
            </a:r>
            <a:endParaRPr lang="en-US" sz="4400" dirty="0"/>
          </a:p>
        </p:txBody>
      </p:sp>
      <p:sp>
        <p:nvSpPr>
          <p:cNvPr id="8" name="Text 3"/>
          <p:cNvSpPr/>
          <p:nvPr/>
        </p:nvSpPr>
        <p:spPr>
          <a:xfrm>
            <a:off x="812800" y="3662561"/>
            <a:ext cx="69329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Vazou? Volte ao Developer Portal e clique em Reset Token. O antigo para de funcionar na hora.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619851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da API do Gemini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1874441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aistudio.google.com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812800" y="2605881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Get API key </a:t>
            </a:r>
            <a:r>
              <a:rPr lang="en-US" sz="24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API key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12800" y="3337322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Copie e guarde. Mesma regra do token: não compartilhe.</a:t>
            </a:r>
            <a:endParaRPr lang="en-US" sz="2400" dirty="0"/>
          </a:p>
        </p:txBody>
      </p:sp>
      <p:pic>
        <p:nvPicPr>
          <p:cNvPr id="9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348163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4600" y="4322763"/>
            <a:ext cx="1094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seu Gmail pessoal. Contas da faculdade podem ter o AI Studio bloqueado.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570416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do GitHub</a:t>
            </a:r>
            <a:endParaRPr lang="en-US" sz="3600" dirty="0"/>
          </a:p>
        </p:txBody>
      </p:sp>
      <p:pic>
        <p:nvPicPr>
          <p:cNvPr id="6" name="Image 2" descr="q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64000" y="1981200"/>
            <a:ext cx="4064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86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57200"/>
            <a:ext cx="58864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CONCEITOS BÁSICOS</a:t>
            </a:r>
            <a:endParaRPr lang="en-US" sz="1800" dirty="0"/>
          </a:p>
        </p:txBody>
      </p:sp>
      <p:pic>
        <p:nvPicPr>
          <p:cNvPr id="4" name="Image 1" descr="Bit acenando entre balões de chat">    </p:cNvPr>
          <p:cNvPicPr>
            <a:picLocks noChangeAspect="1"/>
          </p:cNvPicPr>
          <p:nvPr/>
        </p:nvPicPr>
        <p:blipFill>
          <a:blip r:embed="rId2"/>
          <a:srcRect l="0" r="0" t="-17" b="-17"/>
          <a:stretch/>
        </p:blipFill>
        <p:spPr>
          <a:xfrm>
            <a:off x="7569200" y="2095500"/>
            <a:ext cx="3810000" cy="28575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6802120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dos comandos, o porquê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812800" y="2398911"/>
            <a:ext cx="6477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2800" y="2557661"/>
            <a:ext cx="66713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venv: um Python só para este projeto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12800" y="3036391"/>
            <a:ext cx="6477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3195141"/>
            <a:ext cx="66713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.env: segredos fora do código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12800" y="3673872"/>
            <a:ext cx="6477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2800" y="3832622"/>
            <a:ext cx="66713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.gitignore: o que não sobe para o GitHub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2800" y="4311352"/>
            <a:ext cx="6477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12800" y="4948833"/>
            <a:ext cx="64770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800" y="4470102"/>
            <a:ext cx="66713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pasta do projeto, arquivo por arquivo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464915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um venv?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1575991"/>
            <a:ext cx="5194300" cy="2026741"/>
          </a:xfrm>
          <a:prstGeom prst="roundRect">
            <a:avLst>
              <a:gd name="adj" fmla="val 4700"/>
            </a:avLst>
          </a:prstGeom>
          <a:solidFill>
            <a:srgbClr val="2B2D31"/>
          </a:solidFill>
          <a:ln w="12700">
            <a:solidFill>
              <a:srgbClr val="3F414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8700" y="1760141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venv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700" y="2184301"/>
            <a:ext cx="4918456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projeto instala no mesmo Python. O projeto A pede a versão 1 de uma biblioteca, o B pede a versão 2: um quebra o outro.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178550" y="1575991"/>
            <a:ext cx="5194300" cy="2026741"/>
          </a:xfrm>
          <a:prstGeom prst="roundRect">
            <a:avLst>
              <a:gd name="adj" fmla="val 4700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88100" y="1760141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venv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388100" y="2184301"/>
            <a:ext cx="491845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projeto tem a própria pasta de bibliotecas. O que você instala aqui não mexe em nenhum outro projeto.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9150" y="3767832"/>
            <a:ext cx="5194300" cy="1718171"/>
          </a:xfrm>
          <a:prstGeom prst="roundRect">
            <a:avLst>
              <a:gd name="adj" fmla="val 5544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8700" y="3951982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pasta .venv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8700" y="4376142"/>
            <a:ext cx="491845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cópia do Python com o pip e as bibliotecas do projeto. Dá para apagar e criar de novo.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78550" y="3767832"/>
            <a:ext cx="5194300" cy="1718171"/>
          </a:xfrm>
          <a:prstGeom prst="roundRect">
            <a:avLst>
              <a:gd name="adj" fmla="val 5544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88100" y="3951982"/>
            <a:ext cx="491845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Ativar toda vez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388100" y="4376142"/>
            <a:ext cx="491845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Ativar só vale para aquele terminal. Terminal novo volta ao Python do sistema: ative e confira o </a:t>
            </a:r>
            <a:r>
              <a:rPr lang="en-US" sz="18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(.venv)</a:t>
            </a: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pequeno olhando para o terminal">    </p:cNvPr>
          <p:cNvPicPr>
            <a:picLocks noChangeAspect="1"/>
          </p:cNvPicPr>
          <p:nvPr/>
        </p:nvPicPr>
        <p:blipFill>
          <a:blip r:embed="rId2"/>
          <a:srcRect l="0" r="0" t="-93" b="-93"/>
          <a:stretch/>
        </p:blipFill>
        <p:spPr>
          <a:xfrm>
            <a:off x="10490200" y="4953000"/>
            <a:ext cx="889000" cy="914400"/>
          </a:xfrm>
          <a:prstGeom prst="rect">
            <a:avLst/>
          </a:prstGeom>
        </p:spPr>
      </p:pic>
      <p:pic>
        <p:nvPicPr>
          <p:cNvPr id="5" name="Image 2" descr="Home">    </p:cNvPr>
          <p:cNvPicPr>
            <a:picLocks noChangeAspect="1"/>
          </p:cNvPicPr>
          <p:nvPr/>
        </p:nvPicPr>
        <p:blipFill>
          <a:blip r:embed="rId3"/>
          <a:srcRect l="-391" r="-391" t="0" b="0"/>
          <a:stretch/>
        </p:blipFill>
        <p:spPr>
          <a:xfrm>
            <a:off x="812800" y="1112441"/>
            <a:ext cx="383977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74577" y="812800"/>
            <a:ext cx="1030476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virtual: um Python só para este projeto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217408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(PowerShell)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815975" y="2624237"/>
            <a:ext cx="5124450" cy="1563291"/>
          </a:xfrm>
          <a:prstGeom prst="roundRect">
            <a:avLst>
              <a:gd name="adj" fmla="val 4671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19150" y="2627412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0" name="Shape 5"/>
          <p:cNvSpPr/>
          <p:nvPr/>
        </p:nvSpPr>
        <p:spPr>
          <a:xfrm>
            <a:off x="9461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1" name="Shape 6"/>
          <p:cNvSpPr/>
          <p:nvPr/>
        </p:nvSpPr>
        <p:spPr>
          <a:xfrm>
            <a:off x="10985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2" name="Shape 7"/>
          <p:cNvSpPr/>
          <p:nvPr/>
        </p:nvSpPr>
        <p:spPr>
          <a:xfrm>
            <a:off x="12509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3" name="Text 8"/>
          <p:cNvSpPr/>
          <p:nvPr/>
        </p:nvSpPr>
        <p:spPr>
          <a:xfrm>
            <a:off x="1047750" y="3097312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 -m venv .venv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7750" y="3590032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.venv\Scripts\Activate.ps1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248400" y="217408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/ macOS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51575" y="2624237"/>
            <a:ext cx="5124450" cy="1563291"/>
          </a:xfrm>
          <a:prstGeom prst="roundRect">
            <a:avLst>
              <a:gd name="adj" fmla="val 4671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54750" y="2627412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8" name="Shape 13"/>
          <p:cNvSpPr/>
          <p:nvPr/>
        </p:nvSpPr>
        <p:spPr>
          <a:xfrm>
            <a:off x="63817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41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20" name="Shape 15"/>
          <p:cNvSpPr/>
          <p:nvPr/>
        </p:nvSpPr>
        <p:spPr>
          <a:xfrm>
            <a:off x="6686550" y="271631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1" name="Text 16"/>
          <p:cNvSpPr/>
          <p:nvPr/>
        </p:nvSpPr>
        <p:spPr>
          <a:xfrm>
            <a:off x="6483350" y="3097312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python3 -m venv .venv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483350" y="3590032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source .venv/bin/activate</a:t>
            </a:r>
            <a:endParaRPr lang="en-US" sz="2200" dirty="0"/>
          </a:p>
        </p:txBody>
      </p:sp>
      <p:pic>
        <p:nvPicPr>
          <p:cNvPr id="23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566543"/>
            <a:ext cx="279400" cy="279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19200" y="4546302"/>
            <a:ext cx="848165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Funcionou quando aparecer </a:t>
            </a:r>
            <a:r>
              <a:rPr lang="en-US" sz="180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(.venv)</a:t>
            </a: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início da linha do terminal.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pequeno olhando para o terminal">    </p:cNvPr>
          <p:cNvPicPr>
            <a:picLocks noChangeAspect="1"/>
          </p:cNvPicPr>
          <p:nvPr/>
        </p:nvPicPr>
        <p:blipFill>
          <a:blip r:embed="rId2"/>
          <a:srcRect l="0" r="0" t="-93" b="-93"/>
          <a:stretch/>
        </p:blipFill>
        <p:spPr>
          <a:xfrm>
            <a:off x="10490200" y="4953000"/>
            <a:ext cx="889000" cy="914400"/>
          </a:xfrm>
          <a:prstGeom prst="rect">
            <a:avLst/>
          </a:prstGeom>
        </p:spPr>
      </p:pic>
      <p:pic>
        <p:nvPicPr>
          <p:cNvPr id="5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646176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Instalando as bibliotecas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1336675" y="1826816"/>
            <a:ext cx="9518650" cy="1273770"/>
          </a:xfrm>
          <a:prstGeom prst="roundRect">
            <a:avLst>
              <a:gd name="adj" fmla="val 5733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1339850" y="1829991"/>
            <a:ext cx="9512300" cy="266700"/>
          </a:xfrm>
          <a:custGeom>
            <a:avLst/>
            <a:gdLst/>
            <a:ahLst/>
            <a:cxnLst/>
            <a:rect l="l" t="t" r="r" b="b"/>
            <a:pathLst>
              <a:path w="9512300" h="266700">
                <a:moveTo>
                  <a:pt x="0" y="69850"/>
                </a:moveTo>
                <a:arcTo hR="69850" wR="69850" stAng="10800000" swAng="5400000"/>
                <a:lnTo>
                  <a:pt x="9442450" y="0"/>
                </a:lnTo>
                <a:arcTo hR="69850" wR="69850" stAng="16200000" swAng="5400000"/>
                <a:lnTo>
                  <a:pt x="95123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9" name="Shape 4"/>
          <p:cNvSpPr/>
          <p:nvPr/>
        </p:nvSpPr>
        <p:spPr>
          <a:xfrm>
            <a:off x="1466850" y="19188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0" name="Shape 5"/>
          <p:cNvSpPr/>
          <p:nvPr/>
        </p:nvSpPr>
        <p:spPr>
          <a:xfrm>
            <a:off x="1619250" y="19188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1" name="Shape 6"/>
          <p:cNvSpPr/>
          <p:nvPr/>
        </p:nvSpPr>
        <p:spPr>
          <a:xfrm>
            <a:off x="1771650" y="19188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2" name="Text 7"/>
          <p:cNvSpPr/>
          <p:nvPr/>
        </p:nvSpPr>
        <p:spPr>
          <a:xfrm>
            <a:off x="1339850" y="2401491"/>
            <a:ext cx="951220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 install discord.py python-dotenv google-genai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1339850" y="3567311"/>
            <a:ext cx="3026767" cy="1221680"/>
          </a:xfrm>
          <a:prstGeom prst="roundRect">
            <a:avLst>
              <a:gd name="adj" fmla="val 779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74800" y="3802261"/>
            <a:ext cx="26335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discord.py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574800" y="4234061"/>
            <a:ext cx="263357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fala com o Discord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582517" y="3567311"/>
            <a:ext cx="3026866" cy="1221680"/>
          </a:xfrm>
          <a:prstGeom prst="roundRect">
            <a:avLst>
              <a:gd name="adj" fmla="val 779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17467" y="3802261"/>
            <a:ext cx="26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python-dotenv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817467" y="4234061"/>
            <a:ext cx="263367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 o arquivo .env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7825284" y="3567311"/>
            <a:ext cx="3026767" cy="1221680"/>
          </a:xfrm>
          <a:prstGeom prst="roundRect">
            <a:avLst>
              <a:gd name="adj" fmla="val 7797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60234" y="3802261"/>
            <a:ext cx="26335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google-genai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060234" y="4234061"/>
            <a:ext cx="263357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fala com o Gemini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7594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711200"/>
            <a:ext cx="789836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é público, segredo não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1448991"/>
            <a:ext cx="3390900" cy="1640780"/>
          </a:xfrm>
          <a:prstGeom prst="roundRect">
            <a:avLst>
              <a:gd name="adj" fmla="val 5805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8700" y="1633141"/>
            <a:ext cx="30609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28700" y="2014141"/>
            <a:ext cx="306095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Vai para o GitHub. Qualquer um pode ler.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400550" y="1448991"/>
            <a:ext cx="3390900" cy="1640780"/>
          </a:xfrm>
          <a:prstGeom prst="roundRect">
            <a:avLst>
              <a:gd name="adj" fmla="val 5805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10100" y="1633141"/>
            <a:ext cx="30609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.env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610100" y="2014141"/>
            <a:ext cx="306095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e chave da API. Fica só no seu PC.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981950" y="1448991"/>
            <a:ext cx="3390900" cy="1640780"/>
          </a:xfrm>
          <a:prstGeom prst="roundRect">
            <a:avLst>
              <a:gd name="adj" fmla="val 5805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91500" y="1633141"/>
            <a:ext cx="30609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.env.example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191500" y="2014141"/>
            <a:ext cx="3060954" cy="91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os nomes, sem valores. Quem baixa copia e preenche.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5975" y="3327896"/>
            <a:ext cx="10560050" cy="2030413"/>
          </a:xfrm>
          <a:prstGeom prst="roundRect">
            <a:avLst>
              <a:gd name="adj" fmla="val 3597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9150" y="3331071"/>
            <a:ext cx="10553700" cy="266700"/>
          </a:xfrm>
          <a:custGeom>
            <a:avLst/>
            <a:gdLst/>
            <a:ahLst/>
            <a:cxnLst/>
            <a:rect l="l" t="t" r="r" b="b"/>
            <a:pathLst>
              <a:path w="10553700" h="266700">
                <a:moveTo>
                  <a:pt x="0" y="69850"/>
                </a:moveTo>
                <a:arcTo hR="69850" wR="69850" stAng="10800000" swAng="5400000"/>
                <a:lnTo>
                  <a:pt x="10483850" y="0"/>
                </a:lnTo>
                <a:arcTo hR="69850" wR="69850" stAng="16200000" swAng="5400000"/>
                <a:lnTo>
                  <a:pt x="105537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7" name="Shape 13"/>
          <p:cNvSpPr/>
          <p:nvPr/>
        </p:nvSpPr>
        <p:spPr>
          <a:xfrm>
            <a:off x="946150" y="34199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8" name="Shape 14"/>
          <p:cNvSpPr/>
          <p:nvPr/>
        </p:nvSpPr>
        <p:spPr>
          <a:xfrm>
            <a:off x="1098550" y="34199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9" name="Shape 15"/>
          <p:cNvSpPr/>
          <p:nvPr/>
        </p:nvSpPr>
        <p:spPr>
          <a:xfrm>
            <a:off x="1250950" y="34199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0" name="Text 16"/>
          <p:cNvSpPr/>
          <p:nvPr/>
        </p:nvSpPr>
        <p:spPr>
          <a:xfrm>
            <a:off x="1073150" y="3750171"/>
            <a:ext cx="1034707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dotenv import load_dotenv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073150" y="4113312"/>
            <a:ext cx="1034707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os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073150" y="4476452"/>
            <a:ext cx="1034707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load_dotenv() # lê o .env da pasta do script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1073150" y="4839593"/>
            <a:ext cx="1034707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token = os.environ["DISCORD_TOKEN"]</a:t>
            </a:r>
            <a:endParaRPr lang="en-US" sz="2200" dirty="0"/>
          </a:p>
        </p:txBody>
      </p:sp>
      <p:pic>
        <p:nvPicPr>
          <p:cNvPr id="24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5610324"/>
            <a:ext cx="279400" cy="279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19200" y="5590084"/>
            <a:ext cx="102327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load_dotenv() copia cada linha do .env para os.environ. O código só lê o nome.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pequeno olhando para o terminal">    </p:cNvPr>
          <p:cNvPicPr>
            <a:picLocks noChangeAspect="1"/>
          </p:cNvPicPr>
          <p:nvPr/>
        </p:nvPicPr>
        <p:blipFill>
          <a:blip r:embed="rId2"/>
          <a:srcRect l="0" r="0" t="-93" b="-93"/>
          <a:stretch/>
        </p:blipFill>
        <p:spPr>
          <a:xfrm>
            <a:off x="10490200" y="4953000"/>
            <a:ext cx="889000" cy="914400"/>
          </a:xfrm>
          <a:prstGeom prst="rect">
            <a:avLst/>
          </a:prstGeom>
        </p:spPr>
      </p:pic>
      <p:pic>
        <p:nvPicPr>
          <p:cNvPr id="5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614945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Segredos ficam no .env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15950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(PowerShell)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815975" y="2019796"/>
            <a:ext cx="5124450" cy="968970"/>
          </a:xfrm>
          <a:prstGeom prst="roundRect">
            <a:avLst>
              <a:gd name="adj" fmla="val 7536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19150" y="20229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0" name="Shape 5"/>
          <p:cNvSpPr/>
          <p:nvPr/>
        </p:nvSpPr>
        <p:spPr>
          <a:xfrm>
            <a:off x="9461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1" name="Shape 6"/>
          <p:cNvSpPr/>
          <p:nvPr/>
        </p:nvSpPr>
        <p:spPr>
          <a:xfrm>
            <a:off x="10985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2" name="Shape 7"/>
          <p:cNvSpPr/>
          <p:nvPr/>
        </p:nvSpPr>
        <p:spPr>
          <a:xfrm>
            <a:off x="12509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3" name="Text 8"/>
          <p:cNvSpPr/>
          <p:nvPr/>
        </p:nvSpPr>
        <p:spPr>
          <a:xfrm>
            <a:off x="1022350" y="2442071"/>
            <a:ext cx="49149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Copy-Item .env.example .env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248400" y="15950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/ macOS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251575" y="2019796"/>
            <a:ext cx="5124450" cy="968970"/>
          </a:xfrm>
          <a:prstGeom prst="roundRect">
            <a:avLst>
              <a:gd name="adj" fmla="val 7536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54750" y="20229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817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65341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686550" y="21118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6457950" y="2442071"/>
            <a:ext cx="40233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cp .env.example .env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815975" y="3274516"/>
            <a:ext cx="9137650" cy="1591171"/>
          </a:xfrm>
          <a:prstGeom prst="roundRect">
            <a:avLst>
              <a:gd name="adj" fmla="val 4589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9150" y="3277691"/>
            <a:ext cx="9131300" cy="421580"/>
          </a:xfrm>
          <a:custGeom>
            <a:avLst/>
            <a:gdLst/>
            <a:ahLst/>
            <a:cxnLst/>
            <a:rect l="l" t="t" r="r" b="b"/>
            <a:pathLst>
              <a:path w="9131300" h="421580">
                <a:moveTo>
                  <a:pt x="0" y="69850"/>
                </a:moveTo>
                <a:arcTo hR="69850" wR="69850" stAng="10800000" swAng="5400000"/>
                <a:lnTo>
                  <a:pt x="9061450" y="0"/>
                </a:lnTo>
                <a:arcTo hR="69850" wR="69850" stAng="16200000" swAng="5400000"/>
                <a:lnTo>
                  <a:pt x="9131300" y="421580"/>
                </a:lnTo>
                <a:lnTo>
                  <a:pt x="0" y="42158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23" name="Shape 18"/>
          <p:cNvSpPr/>
          <p:nvPr/>
        </p:nvSpPr>
        <p:spPr>
          <a:xfrm>
            <a:off x="946150" y="3443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98550" y="3443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25" name="Shape 20"/>
          <p:cNvSpPr/>
          <p:nvPr/>
        </p:nvSpPr>
        <p:spPr>
          <a:xfrm>
            <a:off x="1250950" y="3443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6" name="Text 21"/>
          <p:cNvSpPr/>
          <p:nvPr/>
        </p:nvSpPr>
        <p:spPr>
          <a:xfrm>
            <a:off x="1504950" y="3328491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.env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022350" y="3851672"/>
            <a:ext cx="898664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DISCORD_TOKEN=cole_aqui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1022350" y="4318992"/>
            <a:ext cx="898664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GEMINI_API_KEY=cole_aqui</a:t>
            </a:r>
            <a:endParaRPr lang="en-US" sz="2200" dirty="0"/>
          </a:p>
        </p:txBody>
      </p:sp>
      <p:pic>
        <p:nvPicPr>
          <p:cNvPr id="29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5168503"/>
            <a:ext cx="279400" cy="2794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19200" y="5148263"/>
            <a:ext cx="627042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.env está no .gitignore. Nunca faça commit dele.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731317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.gitignore: o que fica de fora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1620441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lista de arquivos e pastas que o git finge que não existem.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15975" y="2271316"/>
            <a:ext cx="10560050" cy="2210891"/>
          </a:xfrm>
          <a:prstGeom prst="roundRect">
            <a:avLst>
              <a:gd name="adj" fmla="val 3303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19150" y="2274491"/>
            <a:ext cx="10553700" cy="421580"/>
          </a:xfrm>
          <a:custGeom>
            <a:avLst/>
            <a:gdLst/>
            <a:ahLst/>
            <a:cxnLst/>
            <a:rect l="l" t="t" r="r" b="b"/>
            <a:pathLst>
              <a:path w="10553700" h="421580">
                <a:moveTo>
                  <a:pt x="0" y="69850"/>
                </a:moveTo>
                <a:arcTo hR="69850" wR="69850" stAng="10800000" swAng="5400000"/>
                <a:lnTo>
                  <a:pt x="10483850" y="0"/>
                </a:lnTo>
                <a:arcTo hR="69850" wR="69850" stAng="16200000" swAng="5400000"/>
                <a:lnTo>
                  <a:pt x="10553700" y="421580"/>
                </a:lnTo>
                <a:lnTo>
                  <a:pt x="0" y="42158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9" name="Shape 5"/>
          <p:cNvSpPr/>
          <p:nvPr/>
        </p:nvSpPr>
        <p:spPr>
          <a:xfrm>
            <a:off x="946150" y="244078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1098550" y="244078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250950" y="244078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2" name="Text 8"/>
          <p:cNvSpPr/>
          <p:nvPr/>
        </p:nvSpPr>
        <p:spPr>
          <a:xfrm>
            <a:off x="1504950" y="2325291"/>
            <a:ext cx="164603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.gitignore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73150" y="2873871"/>
            <a:ext cx="27470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.env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867150" y="2909391"/>
            <a:ext cx="746925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seus segredos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73150" y="3391991"/>
            <a:ext cx="27470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.venv/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867150" y="3427512"/>
            <a:ext cx="746925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pesado e dá para recriar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3150" y="3910112"/>
            <a:ext cx="27470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__pycache__/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867150" y="3945632"/>
            <a:ext cx="746925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que o Python gera sozinho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819150" y="4796532"/>
            <a:ext cx="10553700" cy="985441"/>
          </a:xfrm>
          <a:prstGeom prst="roundRect">
            <a:avLst>
              <a:gd name="adj" fmla="val 9666"/>
            </a:avLst>
          </a:prstGeom>
          <a:solidFill>
            <a:srgbClr val="2B2D31"/>
          </a:solidFill>
          <a:ln w="12700">
            <a:solidFill>
              <a:srgbClr val="5865F2"/>
            </a:solidFill>
            <a:prstDash val="solid"/>
          </a:ln>
        </p:spPr>
      </p:sp>
      <p:pic>
        <p:nvPicPr>
          <p:cNvPr id="20" name="Image 2" descr="Warning">    </p:cNvPr>
          <p:cNvPicPr>
            <a:picLocks noChangeAspect="1"/>
          </p:cNvPicPr>
          <p:nvPr/>
        </p:nvPicPr>
        <p:blipFill>
          <a:blip r:embed="rId3"/>
          <a:srcRect l="0" r="0" t="-643" b="-643"/>
          <a:stretch/>
        </p:blipFill>
        <p:spPr>
          <a:xfrm>
            <a:off x="1054100" y="4980682"/>
            <a:ext cx="200620" cy="304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07120" y="4980682"/>
            <a:ext cx="1002270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protege um .env que já foi commitado: ele fica no histórico. Se aconteceu, dê Reset Token no Discord e gere outra chave do Gemini.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838604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Resumo: o que sobe e o que fica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5975" y="1623616"/>
            <a:ext cx="8248650" cy="3823692"/>
          </a:xfrm>
          <a:prstGeom prst="roundRect">
            <a:avLst>
              <a:gd name="adj" fmla="val 1910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19150" y="1626791"/>
            <a:ext cx="8242300" cy="266700"/>
          </a:xfrm>
          <a:custGeom>
            <a:avLst/>
            <a:gdLst/>
            <a:ahLst/>
            <a:cxnLst/>
            <a:rect l="l" t="t" r="r" b="b"/>
            <a:pathLst>
              <a:path w="8242300" h="266700">
                <a:moveTo>
                  <a:pt x="0" y="69850"/>
                </a:moveTo>
                <a:arcTo hR="69850" wR="69850" stAng="10800000" swAng="5400000"/>
                <a:lnTo>
                  <a:pt x="8172450" y="0"/>
                </a:lnTo>
                <a:arcTo hR="69850" wR="69850" stAng="16200000" swAng="5400000"/>
                <a:lnTo>
                  <a:pt x="82423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8" name="Shape 4"/>
          <p:cNvSpPr/>
          <p:nvPr/>
        </p:nvSpPr>
        <p:spPr>
          <a:xfrm>
            <a:off x="946150" y="1715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9" name="Shape 5"/>
          <p:cNvSpPr/>
          <p:nvPr/>
        </p:nvSpPr>
        <p:spPr>
          <a:xfrm>
            <a:off x="1098550" y="1715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0" name="Shape 6"/>
          <p:cNvSpPr/>
          <p:nvPr/>
        </p:nvSpPr>
        <p:spPr>
          <a:xfrm>
            <a:off x="1250950" y="1715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1" name="Text 7"/>
          <p:cNvSpPr/>
          <p:nvPr/>
        </p:nvSpPr>
        <p:spPr>
          <a:xfrm>
            <a:off x="1073150" y="2071291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seu-projeto/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73150" y="2538611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main.py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050385" y="2555081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noFill/>
          <a:ln w="12700">
            <a:solidFill>
              <a:srgbClr val="5865F2"/>
            </a:solidFill>
            <a:prstDash val="solid"/>
          </a:ln>
        </p:spPr>
        <p:txBody>
          <a:bodyPr wrap="square" lIns="120650" tIns="19050" rIns="12065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73150" y="3005931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.env.example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050385" y="3022402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noFill/>
          <a:ln w="12700">
            <a:solidFill>
              <a:srgbClr val="5865F2"/>
            </a:solidFill>
            <a:prstDash val="solid"/>
          </a:ln>
        </p:spPr>
        <p:txBody>
          <a:bodyPr wrap="square" lIns="120650" tIns="19050" rIns="12065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073150" y="3473252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.gitignore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050385" y="3489722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noFill/>
          <a:ln w="12700">
            <a:solidFill>
              <a:srgbClr val="5865F2"/>
            </a:solidFill>
            <a:prstDash val="solid"/>
          </a:ln>
        </p:spPr>
        <p:txBody>
          <a:bodyPr wrap="square" lIns="120650" tIns="19050" rIns="12065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73150" y="3940572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.env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7050385" y="3957042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solidFill>
            <a:srgbClr val="B5BAC1"/>
          </a:solidFill>
          <a:ln w="12700">
            <a:solidFill>
              <a:srgbClr val="B5BAC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no seu PC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073150" y="4407892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 .venv/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050385" y="4424363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solidFill>
            <a:srgbClr val="B5BAC1"/>
          </a:solidFill>
          <a:ln w="12700">
            <a:solidFill>
              <a:srgbClr val="B5BAC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no seu PC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073150" y="4875213"/>
            <a:ext cx="607152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└── __pycache__/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7050385" y="4891683"/>
            <a:ext cx="1750715" cy="358080"/>
          </a:xfrm>
          <a:custGeom>
            <a:avLst/>
            <a:gdLst/>
            <a:ahLst/>
            <a:cxnLst/>
            <a:rect l="l" t="t" r="r" b="b"/>
            <a:pathLst>
              <a:path w="1750715" h="358080">
                <a:moveTo>
                  <a:pt x="179040" y="0"/>
                </a:moveTo>
                <a:lnTo>
                  <a:pt x="1571675" y="0"/>
                </a:lnTo>
                <a:arcTo hR="179040" wR="179040" stAng="16200000" swAng="5400000"/>
                <a:lnTo>
                  <a:pt x="1750715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solidFill>
            <a:srgbClr val="B5BAC1"/>
          </a:solidFill>
          <a:ln w="12700">
            <a:solidFill>
              <a:srgbClr val="B5BAC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no seu PC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pequeno olhando para o terminal">    </p:cNvPr>
          <p:cNvPicPr>
            <a:picLocks noChangeAspect="1"/>
          </p:cNvPicPr>
          <p:nvPr/>
        </p:nvPicPr>
        <p:blipFill>
          <a:blip r:embed="rId2"/>
          <a:srcRect l="0" r="0" t="-93" b="-93"/>
          <a:stretch/>
        </p:blipFill>
        <p:spPr>
          <a:xfrm>
            <a:off x="10490200" y="4953000"/>
            <a:ext cx="889000" cy="914400"/>
          </a:xfrm>
          <a:prstGeom prst="rect">
            <a:avLst/>
          </a:prstGeom>
        </p:spPr>
      </p:pic>
      <p:pic>
        <p:nvPicPr>
          <p:cNvPr id="5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352853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Ligando o bot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17728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(PowerShell)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815975" y="2222996"/>
            <a:ext cx="5124450" cy="1207691"/>
          </a:xfrm>
          <a:prstGeom prst="roundRect">
            <a:avLst>
              <a:gd name="adj" fmla="val 6047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19150" y="22261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0" name="Shape 5"/>
          <p:cNvSpPr/>
          <p:nvPr/>
        </p:nvSpPr>
        <p:spPr>
          <a:xfrm>
            <a:off x="9461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1" name="Shape 6"/>
          <p:cNvSpPr/>
          <p:nvPr/>
        </p:nvSpPr>
        <p:spPr>
          <a:xfrm>
            <a:off x="10985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2" name="Shape 7"/>
          <p:cNvSpPr/>
          <p:nvPr/>
        </p:nvSpPr>
        <p:spPr>
          <a:xfrm>
            <a:off x="12509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3" name="Text 8"/>
          <p:cNvSpPr/>
          <p:nvPr/>
        </p:nvSpPr>
        <p:spPr>
          <a:xfrm>
            <a:off x="1073150" y="2746871"/>
            <a:ext cx="3072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main.py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248400" y="1772841"/>
            <a:ext cx="528472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BA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/ macOS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251575" y="2222996"/>
            <a:ext cx="5124450" cy="1207691"/>
          </a:xfrm>
          <a:prstGeom prst="roundRect">
            <a:avLst>
              <a:gd name="adj" fmla="val 6047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54750" y="2226171"/>
            <a:ext cx="5118100" cy="266700"/>
          </a:xfrm>
          <a:custGeom>
            <a:avLst/>
            <a:gdLst/>
            <a:ahLst/>
            <a:cxnLst/>
            <a:rect l="l" t="t" r="r" b="b"/>
            <a:pathLst>
              <a:path w="5118100" h="266700">
                <a:moveTo>
                  <a:pt x="0" y="69850"/>
                </a:moveTo>
                <a:arcTo hR="69850" wR="69850" stAng="10800000" swAng="5400000"/>
                <a:lnTo>
                  <a:pt x="5048250" y="0"/>
                </a:lnTo>
                <a:arcTo hR="69850" wR="69850" stAng="16200000" swAng="5400000"/>
                <a:lnTo>
                  <a:pt x="51181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5865F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817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65341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686550" y="231507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6508750" y="2746871"/>
            <a:ext cx="32919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python3 main.py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12800" y="3891062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Apareceu 'Online como ...'? Mencione o bot no canal. Para desligar: Ctrl+C.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com curativo na antena e olhos em X">    </p:cNvPr>
          <p:cNvPicPr>
            <a:picLocks noChangeAspect="1"/>
          </p:cNvPicPr>
          <p:nvPr/>
        </p:nvPicPr>
        <p:blipFill>
          <a:blip r:embed="rId2"/>
          <a:srcRect l="0" r="0" t="-138" b="-138"/>
          <a:stretch/>
        </p:blipFill>
        <p:spPr>
          <a:xfrm>
            <a:off x="10236200" y="4889500"/>
            <a:ext cx="1143000" cy="1066800"/>
          </a:xfrm>
          <a:prstGeom prst="rect">
            <a:avLst/>
          </a:prstGeom>
        </p:spPr>
      </p:pic>
      <p:pic>
        <p:nvPicPr>
          <p:cNvPr id="5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425255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der erro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9131300" cy="2659261"/>
        </p:xfrm>
        <a:graphic>
          <a:graphicData uri="http://schemas.openxmlformats.org/drawingml/2006/table">
            <a:tbl>
              <a:tblPr/>
              <a:tblGrid>
                <a:gridCol w="3835146"/>
                <a:gridCol w="5296154"/>
              </a:tblGrid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Causa provável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75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Activate.ps1 bloqueado (Windows)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Rode: Set-ExecutionPolicy -Scope CurrentUser RemoteSigned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ensurepip is not available (Linux)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Rode: sudo apt install python3-venv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PrivilegedIntentsRequired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Message Content Intent desligado no portal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KeyError: 'DISCORD_TOKEN'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.env com nome errado ou fora da pasta do projeto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5865F2"/>
          </a:solidFill>
          <a:ln/>
        </p:spPr>
      </p:sp>
      <p:pic>
        <p:nvPicPr>
          <p:cNvPr id="4" name="Image 1" descr="Bit com curativo na antena e olhos em X">    </p:cNvPr>
          <p:cNvPicPr>
            <a:picLocks noChangeAspect="1"/>
          </p:cNvPicPr>
          <p:nvPr/>
        </p:nvPicPr>
        <p:blipFill>
          <a:blip r:embed="rId2"/>
          <a:srcRect l="0" r="0" t="-138" b="-138"/>
          <a:stretch/>
        </p:blipFill>
        <p:spPr>
          <a:xfrm>
            <a:off x="10236200" y="4889500"/>
            <a:ext cx="1143000" cy="1066800"/>
          </a:xfrm>
          <a:prstGeom prst="rect">
            <a:avLst/>
          </a:prstGeom>
        </p:spPr>
      </p:pic>
      <p:pic>
        <p:nvPicPr>
          <p:cNvPr id="5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2800"/>
            <a:ext cx="425255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5865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der erro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9131300" cy="2468761"/>
        </p:xfrm>
        <a:graphic>
          <a:graphicData uri="http://schemas.openxmlformats.org/drawingml/2006/table">
            <a:tbl>
              <a:tblPr/>
              <a:tblGrid>
                <a:gridCol w="3835146"/>
                <a:gridCol w="5296154"/>
              </a:tblGrid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Causa provável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5F2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 online mas mudo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Você não mencionou o bot com @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8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Bot responde 'Deu erro ao falar com a IA'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Chave errada no .env ou cota do Gemini estourada (espere 1 minuto)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403 Forbidden no terminal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2F3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 bot não tem permissão de enviar mensagem neste canal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A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064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O CÓDIGO</a:t>
            </a:r>
            <a:endParaRPr lang="en-US" sz="1800" dirty="0"/>
          </a:p>
        </p:txBody>
      </p:sp>
      <p:pic>
        <p:nvPicPr>
          <p:cNvPr id="4" name="Image 1" descr="Bit de óculos lendo uma folha com chaves">    </p:cNvPr>
          <p:cNvPicPr>
            <a:picLocks noChangeAspect="1"/>
          </p:cNvPicPr>
          <p:nvPr/>
        </p:nvPicPr>
        <p:blipFill>
          <a:blip r:embed="rId2"/>
          <a:srcRect l="0" r="0" t="-44" b="-44"/>
          <a:stretch/>
        </p:blipFill>
        <p:spPr>
          <a:xfrm>
            <a:off x="8204200" y="1663700"/>
            <a:ext cx="3175000" cy="339725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7194550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Anatomia do bot em 4 partes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819150" y="2348111"/>
            <a:ext cx="3403600" cy="1127720"/>
          </a:xfrm>
          <a:prstGeom prst="roundRect">
            <a:avLst>
              <a:gd name="adj" fmla="val 8446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8700" y="2557661"/>
            <a:ext cx="30740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700" y="2969121"/>
            <a:ext cx="3074035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chaves e personalidade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387850" y="2348111"/>
            <a:ext cx="3403600" cy="1127720"/>
          </a:xfrm>
          <a:prstGeom prst="roundRect">
            <a:avLst>
              <a:gd name="adj" fmla="val 8446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97400" y="2557661"/>
            <a:ext cx="30740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97400" y="2969121"/>
            <a:ext cx="3074035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conversa por canal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9150" y="3640931"/>
            <a:ext cx="3403600" cy="1424880"/>
          </a:xfrm>
          <a:prstGeom prst="roundRect">
            <a:avLst>
              <a:gd name="adj" fmla="val 6685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8700" y="3850481"/>
            <a:ext cx="30740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8700" y="4261941"/>
            <a:ext cx="3074035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responde se for mencionado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387850" y="3640931"/>
            <a:ext cx="3403600" cy="1424880"/>
          </a:xfrm>
          <a:prstGeom prst="roundRect">
            <a:avLst>
              <a:gd name="adj" fmla="val 6685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97400" y="3850481"/>
            <a:ext cx="30740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97400" y="4261941"/>
            <a:ext cx="3074035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cooldown de 5 s e corte em 2000 caracteres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3A55A"/>
          </a:solidFill>
          <a:ln/>
        </p:spPr>
      </p:sp>
      <p:pic>
        <p:nvPicPr>
          <p:cNvPr id="4" name="Image 1" descr="Chat">    </p:cNvPr>
          <p:cNvPicPr>
            <a:picLocks noChangeAspect="1"/>
          </p:cNvPicPr>
          <p:nvPr/>
        </p:nvPicPr>
        <p:blipFill>
          <a:blip r:embed="rId2"/>
          <a:srcRect l="0" r="0" t="-196" b="-196"/>
          <a:stretch/>
        </p:blipFill>
        <p:spPr>
          <a:xfrm>
            <a:off x="812800" y="1112441"/>
            <a:ext cx="404813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5413" y="812800"/>
            <a:ext cx="1028330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 quando alguém fala com o bot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2078831"/>
            <a:ext cx="10553700" cy="459680"/>
          </a:xfrm>
          <a:prstGeom prst="roundRect">
            <a:avLst>
              <a:gd name="adj" fmla="val 15195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03300" y="2148681"/>
            <a:ext cx="14942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4323" y="2148681"/>
            <a:ext cx="885110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Chegou mensagem </a:t>
            </a:r>
            <a:r>
              <a:rPr lang="en-US" sz="1800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de outro bot ou não me mencionou? Ignora.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4304" y="2570262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19150" y="2830612"/>
            <a:ext cx="10553700" cy="459680"/>
          </a:xfrm>
          <a:prstGeom prst="roundRect">
            <a:avLst>
              <a:gd name="adj" fmla="val 15195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03300" y="2900462"/>
            <a:ext cx="19486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99766" y="2900462"/>
            <a:ext cx="639163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 usuário falou há menos de 5 s? Pede calma.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4304" y="3322042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19150" y="3582392"/>
            <a:ext cx="10553700" cy="459680"/>
          </a:xfrm>
          <a:prstGeom prst="roundRect">
            <a:avLst>
              <a:gd name="adj" fmla="val 15195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3300" y="3652242"/>
            <a:ext cx="19843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03338" y="3652242"/>
            <a:ext cx="402717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Tira a menção (@bot) do texto.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4304" y="4073823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19150" y="4334173"/>
            <a:ext cx="10553700" cy="459680"/>
          </a:xfrm>
          <a:prstGeom prst="roundRect">
            <a:avLst>
              <a:gd name="adj" fmla="val 15195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03300" y="4404023"/>
            <a:ext cx="20548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310382" y="4404023"/>
            <a:ext cx="726483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 o texto para o Gemini (com o histórico do canal).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54304" y="4825603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19150" y="5085953"/>
            <a:ext cx="10553700" cy="459680"/>
          </a:xfrm>
          <a:prstGeom prst="roundRect">
            <a:avLst>
              <a:gd name="adj" fmla="val 15195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3300" y="5155803"/>
            <a:ext cx="1930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297980" y="5155803"/>
            <a:ext cx="687728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no Discord, cortando em 2000 caracteres.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3A55A"/>
          </a:solidFill>
          <a:ln/>
        </p:spPr>
      </p:sp>
      <p:pic>
        <p:nvPicPr>
          <p:cNvPr id="4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1072276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palavras novas: @bot.event e await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1575991"/>
            <a:ext cx="5143500" cy="1473101"/>
          </a:xfrm>
          <a:prstGeom prst="roundRect">
            <a:avLst>
              <a:gd name="adj" fmla="val 6466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79500" y="178554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@bot.event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79500" y="2222401"/>
            <a:ext cx="4761484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avisa o Discord: quando acontecer este evento, chame esta função.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229350" y="1575991"/>
            <a:ext cx="5143500" cy="1473101"/>
          </a:xfrm>
          <a:prstGeom prst="roundRect">
            <a:avLst>
              <a:gd name="adj" fmla="val 6466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89700" y="178554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89700" y="2222401"/>
            <a:ext cx="4761484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espera a resposta (da IA, do Discord) sem travar o bot para os outros.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5975" y="3312616"/>
            <a:ext cx="10560050" cy="1709241"/>
          </a:xfrm>
          <a:prstGeom prst="roundRect">
            <a:avLst>
              <a:gd name="adj" fmla="val 4272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19150" y="3315791"/>
            <a:ext cx="10553700" cy="266700"/>
          </a:xfrm>
          <a:custGeom>
            <a:avLst/>
            <a:gdLst/>
            <a:ahLst/>
            <a:cxnLst/>
            <a:rect l="l" t="t" r="r" b="b"/>
            <a:pathLst>
              <a:path w="10553700" h="266700">
                <a:moveTo>
                  <a:pt x="0" y="69850"/>
                </a:moveTo>
                <a:arcTo hR="69850" wR="69850" stAng="10800000" swAng="5400000"/>
                <a:lnTo>
                  <a:pt x="10483850" y="0"/>
                </a:lnTo>
                <a:arcTo hR="69850" wR="69850" stAng="16200000" swAng="5400000"/>
                <a:lnTo>
                  <a:pt x="1055370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23A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946150" y="3404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8550" y="3404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6" name="Shape 12"/>
          <p:cNvSpPr/>
          <p:nvPr/>
        </p:nvSpPr>
        <p:spPr>
          <a:xfrm>
            <a:off x="1250950" y="34046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7" name="Text 13"/>
          <p:cNvSpPr/>
          <p:nvPr/>
        </p:nvSpPr>
        <p:spPr>
          <a:xfrm>
            <a:off x="1073150" y="3734891"/>
            <a:ext cx="10347071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@bot.event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73150" y="4112022"/>
            <a:ext cx="10347071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 def on_message(msg):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073150" y="4489152"/>
            <a:ext cx="10347071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resposta = await chat.send_message(pergunta)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3A55A"/>
          </a:solidFill>
          <a:ln/>
        </p:spPr>
      </p:sp>
      <p:pic>
        <p:nvPicPr>
          <p:cNvPr id="4" name="Image 1" descr="Trus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859678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23A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essas proteções existem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9150" y="1931591"/>
            <a:ext cx="5118100" cy="2771080"/>
          </a:xfrm>
          <a:prstGeom prst="roundRect">
            <a:avLst>
              <a:gd name="adj" fmla="val 3437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81100" y="2293541"/>
            <a:ext cx="452602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Cooldown por usuário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181100" y="2867521"/>
            <a:ext cx="4526026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plano gratuito limita requisições por minuto; o cooldown protege a SUA cota. Chave compartilhada estoura rápido.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254750" y="1931591"/>
            <a:ext cx="5118100" cy="2771080"/>
          </a:xfrm>
          <a:prstGeom prst="roundRect">
            <a:avLst>
              <a:gd name="adj" fmla="val 3437"/>
            </a:avLst>
          </a:prstGeom>
          <a:solidFill>
            <a:srgbClr val="2B2D31"/>
          </a:solidFill>
          <a:ln w="12700">
            <a:solidFill>
              <a:srgbClr val="23A5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16700" y="2293541"/>
            <a:ext cx="452602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texto[:2000]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616700" y="2867521"/>
            <a:ext cx="452602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Discord recusa mensagens maiores que 2000 caracteres.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45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064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PERSONALIDADE</a:t>
            </a:r>
            <a:endParaRPr lang="en-US" sz="1800" dirty="0"/>
          </a:p>
        </p:txBody>
      </p:sp>
      <p:pic>
        <p:nvPicPr>
          <p:cNvPr id="4" name="Image 1" descr="Bit segurando três máscaras de teatro">    </p:cNvPr>
          <p:cNvPicPr>
            <a:picLocks noChangeAspect="1"/>
          </p:cNvPicPr>
          <p:nvPr/>
        </p:nvPicPr>
        <p:blipFill>
          <a:blip r:embed="rId2"/>
          <a:srcRect l="-34" r="-34" t="0" b="0"/>
          <a:stretch/>
        </p:blipFill>
        <p:spPr>
          <a:xfrm>
            <a:off x="8331200" y="1905000"/>
            <a:ext cx="3048000" cy="29337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732536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system_instruction: a regra que o modelo segue antes de tudo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19150" y="1967111"/>
            <a:ext cx="2273300" cy="2234902"/>
          </a:xfrm>
          <a:prstGeom prst="roundRect">
            <a:avLst>
              <a:gd name="adj" fmla="val 426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77900" y="212586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direto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77900" y="2501702"/>
            <a:ext cx="201447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que é uma variável?"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77900" y="3174802"/>
            <a:ext cx="201447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[resposta]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232150" y="1967111"/>
            <a:ext cx="2273300" cy="2234902"/>
          </a:xfrm>
          <a:prstGeom prst="roundRect">
            <a:avLst>
              <a:gd name="adj" fmla="val 426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90900" y="212586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Pirata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390900" y="2501702"/>
            <a:ext cx="201447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que é uma variável?"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90900" y="3174802"/>
            <a:ext cx="201447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[resposta]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645150" y="1967111"/>
            <a:ext cx="2273300" cy="2234902"/>
          </a:xfrm>
          <a:prstGeom prst="roundRect">
            <a:avLst>
              <a:gd name="adj" fmla="val 426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03900" y="2125861"/>
            <a:ext cx="2014474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que só responde com perguntas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803900" y="3050183"/>
            <a:ext cx="201447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que é uma variável?"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803900" y="3723283"/>
            <a:ext cx="201447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[resposta]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12800" y="4462363"/>
            <a:ext cx="73253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pergunta, mesmo modelo, instrução diferente.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B459E"/>
          </a:solidFill>
          <a:ln/>
        </p:spPr>
      </p:sp>
      <p:pic>
        <p:nvPicPr>
          <p:cNvPr id="4" name="Image 1" descr="Bit apontando para o texto">    </p:cNvPr>
          <p:cNvPicPr>
            <a:picLocks noChangeAspect="1"/>
          </p:cNvPicPr>
          <p:nvPr/>
        </p:nvPicPr>
        <p:blipFill>
          <a:blip r:embed="rId2"/>
          <a:srcRect l="-29" r="-29" t="0" b="0"/>
          <a:stretch/>
        </p:blipFill>
        <p:spPr>
          <a:xfrm>
            <a:off x="8077200" y="1905000"/>
            <a:ext cx="3175000" cy="2705100"/>
          </a:xfrm>
          <a:prstGeom prst="rect">
            <a:avLst/>
          </a:prstGeom>
        </p:spPr>
      </p:pic>
      <p:pic>
        <p:nvPicPr>
          <p:cNvPr id="5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863600"/>
            <a:ext cx="406400" cy="4064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1397000" y="815380"/>
            <a:ext cx="204525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EB45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vez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812800" y="3114774"/>
            <a:ext cx="6932930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Edite o system_instruction, reinicie o bot e teste no seu servidor. 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B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572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RAG (BÔNUS)</a:t>
            </a:r>
            <a:endParaRPr lang="en-US" sz="1800" dirty="0"/>
          </a:p>
        </p:txBody>
      </p:sp>
      <p:pic>
        <p:nvPicPr>
          <p:cNvPr id="4" name="Image 1" descr="Bit carregando uma pilha de documentos">    </p:cNvPr>
          <p:cNvPicPr>
            <a:picLocks noChangeAspect="1"/>
          </p:cNvPicPr>
          <p:nvPr/>
        </p:nvPicPr>
        <p:blipFill>
          <a:blip r:embed="rId2"/>
          <a:srcRect l="-77" r="-77" t="0" b="0"/>
          <a:stretch/>
        </p:blipFill>
        <p:spPr>
          <a:xfrm>
            <a:off x="8585200" y="1778000"/>
            <a:ext cx="2730500" cy="33020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745617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problema: a IA não conhece as regras atualizadas do Minecraft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812800" y="1859161"/>
            <a:ext cx="74561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inventa receitas e alturas de minério.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2800" y="2341761"/>
            <a:ext cx="74561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A2A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= dar a ela o documento certo antes da pergunta.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812800" y="2824361"/>
            <a:ext cx="7366000" cy="2090241"/>
          </a:xfrm>
          <a:prstGeom prst="roundRect">
            <a:avLst>
              <a:gd name="adj" fmla="val 4861"/>
            </a:avLst>
          </a:prstGeom>
          <a:solidFill>
            <a:srgbClr val="1E1F22"/>
          </a:solidFill>
          <a:ln/>
        </p:spPr>
      </p:sp>
      <p:sp>
        <p:nvSpPr>
          <p:cNvPr id="9" name="Text 5"/>
          <p:cNvSpPr/>
          <p:nvPr/>
        </p:nvSpPr>
        <p:spPr>
          <a:xfrm>
            <a:off x="1016000" y="3002161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5A5D6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98600" y="3002161"/>
            <a:ext cx="66713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98600" y="3347541"/>
            <a:ext cx="667131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A5A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@bot</a:t>
            </a: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encontrar diamantes no Minecraft?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016000" y="379710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B2D31"/>
          </a:solidFill>
          <a:ln/>
        </p:spPr>
      </p:sp>
      <p:pic>
        <p:nvPicPr>
          <p:cNvPr id="13" name="Image 2" descr="Avatar do bot">    </p:cNvPr>
          <p:cNvPicPr>
            <a:picLocks noChangeAspect="1"/>
          </p:cNvPicPr>
          <p:nvPr/>
        </p:nvPicPr>
        <p:blipFill>
          <a:blip r:embed="rId3"/>
          <a:srcRect l="-1333" r="-1333" t="0" b="0"/>
          <a:stretch/>
        </p:blipFill>
        <p:spPr>
          <a:xfrm>
            <a:off x="1054100" y="3835202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98600" y="3797102"/>
            <a:ext cx="44172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968302" y="3797102"/>
            <a:ext cx="1172666" cy="319980"/>
          </a:xfrm>
          <a:custGeom>
            <a:avLst/>
            <a:gdLst/>
            <a:ahLst/>
            <a:cxnLst/>
            <a:rect l="l" t="t" r="r" b="b"/>
            <a:pathLst>
              <a:path w="1172666" h="319980">
                <a:moveTo>
                  <a:pt x="50800" y="0"/>
                </a:moveTo>
                <a:lnTo>
                  <a:pt x="1121866" y="0"/>
                </a:lnTo>
                <a:arcTo hR="50800" wR="50800" stAng="16200000" swAng="5400000"/>
                <a:lnTo>
                  <a:pt x="1172666" y="269180"/>
                </a:lnTo>
                <a:arcTo hR="50800" wR="50800" stAng="0" swAng="5400000"/>
                <a:lnTo>
                  <a:pt x="50800" y="3199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F0B23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1F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RAG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498600" y="4142482"/>
            <a:ext cx="667131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 nas camadas profundas, principalmente perto da altura Y=-59. Leve uma picareta de ferro ou melhor!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8000" y="254000"/>
            <a:ext cx="711200" cy="7112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769" b="769"/>
          <a:stretch/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B232"/>
          </a:solidFill>
          <a:ln/>
        </p:spPr>
      </p:sp>
      <p:pic>
        <p:nvPicPr>
          <p:cNvPr id="4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537793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em duas etapas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2800" y="1645841"/>
            <a:ext cx="91519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734344" y="1626791"/>
            <a:ext cx="1687909" cy="358080"/>
          </a:xfrm>
          <a:custGeom>
            <a:avLst/>
            <a:gdLst/>
            <a:ahLst/>
            <a:cxnLst/>
            <a:rect l="l" t="t" r="r" b="b"/>
            <a:pathLst>
              <a:path w="1687909" h="358080">
                <a:moveTo>
                  <a:pt x="179040" y="0"/>
                </a:moveTo>
                <a:lnTo>
                  <a:pt x="1508869" y="0"/>
                </a:lnTo>
                <a:arcTo hR="179040" wR="179040" stAng="16200000" swAng="5400000"/>
                <a:lnTo>
                  <a:pt x="1687909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noFill/>
          <a:ln w="12700">
            <a:solidFill>
              <a:srgbClr val="F0B23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fazer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9150" y="2099171"/>
            <a:ext cx="1892300" cy="812800"/>
          </a:xfrm>
          <a:prstGeom prst="roundRect">
            <a:avLst>
              <a:gd name="adj" fmla="val 8594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36184" tIns="62092" rIns="36184" bIns="620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inteiro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819400" y="231001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206750" y="2099171"/>
            <a:ext cx="1638300" cy="812800"/>
          </a:xfrm>
          <a:prstGeom prst="roundRect">
            <a:avLst>
              <a:gd name="adj" fmla="val 8594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62092" tIns="62092" rIns="62092" bIns="620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53000" y="231001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340350" y="2099171"/>
            <a:ext cx="1638300" cy="812800"/>
          </a:xfrm>
          <a:prstGeom prst="roundRect">
            <a:avLst>
              <a:gd name="adj" fmla="val 8594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62092" tIns="62092" rIns="62092" bIns="620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</a:t>
            </a:r>
            <a:endParaRPr lang="en-US" sz="1800" dirty="0"/>
          </a:p>
        </p:txBody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052862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8400" y="3019921"/>
            <a:ext cx="662213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Simples, mas gasta tokens e tem limite de tamanho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2800" y="3670102"/>
            <a:ext cx="96063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2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779786" y="3651052"/>
            <a:ext cx="1928614" cy="358080"/>
          </a:xfrm>
          <a:custGeom>
            <a:avLst/>
            <a:gdLst/>
            <a:ahLst/>
            <a:cxnLst/>
            <a:rect l="l" t="t" r="r" b="b"/>
            <a:pathLst>
              <a:path w="1928614" h="358080">
                <a:moveTo>
                  <a:pt x="179040" y="0"/>
                </a:moveTo>
                <a:lnTo>
                  <a:pt x="1749574" y="0"/>
                </a:lnTo>
                <a:arcTo hR="179040" wR="179040" stAng="16200000" swAng="5400000"/>
                <a:lnTo>
                  <a:pt x="1928614" y="179040"/>
                </a:lnTo>
                <a:arcTo hR="179040" wR="179040" stAng="0" swAng="5400000"/>
                <a:lnTo>
                  <a:pt x="179040" y="358080"/>
                </a:lnTo>
                <a:arcTo hR="179040" wR="179040" stAng="5400000" swAng="5400000"/>
                <a:lnTo>
                  <a:pt x="0" y="179040"/>
                </a:lnTo>
                <a:arcTo hR="179040" wR="179040" stAng="10800000" swAng="5400000"/>
                <a:close/>
              </a:path>
            </a:pathLst>
          </a:custGeom>
          <a:noFill/>
          <a:ln w="12700">
            <a:solidFill>
              <a:srgbClr val="F0B23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9150" y="4123432"/>
            <a:ext cx="1574800" cy="1066800"/>
          </a:xfrm>
          <a:prstGeom prst="roundRect">
            <a:avLst>
              <a:gd name="adj" fmla="val 6548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49392" tIns="49392" rIns="49392" bIns="493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476500" y="4461272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838450" y="4123432"/>
            <a:ext cx="1320800" cy="1066800"/>
          </a:xfrm>
          <a:prstGeom prst="roundRect">
            <a:avLst>
              <a:gd name="adj" fmla="val 6548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49392" tIns="49392" rIns="49392" bIns="493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Trechos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241800" y="4461272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603750" y="4123432"/>
            <a:ext cx="2717800" cy="1066800"/>
          </a:xfrm>
          <a:custGeom>
            <a:avLst/>
            <a:gdLst/>
            <a:ahLst/>
            <a:cxnLst/>
            <a:rect l="l" t="t" r="r" b="b"/>
            <a:pathLst>
              <a:path w="2717800" h="1066800">
                <a:moveTo>
                  <a:pt x="69850" y="0"/>
                </a:moveTo>
                <a:lnTo>
                  <a:pt x="2647950" y="0"/>
                </a:lnTo>
                <a:arcTo hR="69850" wR="69850" stAng="16200000" swAng="5400000"/>
                <a:lnTo>
                  <a:pt x="2717800" y="996950"/>
                </a:lnTo>
                <a:arcTo hR="69850" wR="69850" stAng="0" swAng="5400000"/>
                <a:lnTo>
                  <a:pt x="69850" y="10668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31179" tIns="69850" rIns="31179" bIns="69850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os trechos mais parecidos com a pergunta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404100" y="4461272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766050" y="4123432"/>
            <a:ext cx="1257300" cy="1066800"/>
          </a:xfrm>
          <a:prstGeom prst="roundRect">
            <a:avLst>
              <a:gd name="adj" fmla="val 6548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49392" tIns="49392" rIns="49392" bIns="493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9105900" y="4461272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467850" y="4123432"/>
            <a:ext cx="1447800" cy="1066800"/>
          </a:xfrm>
          <a:prstGeom prst="roundRect">
            <a:avLst>
              <a:gd name="adj" fmla="val 6548"/>
            </a:avLst>
          </a:prstGeom>
          <a:solidFill>
            <a:srgbClr val="2B2D31"/>
          </a:solidFill>
          <a:ln w="12700">
            <a:solidFill>
              <a:srgbClr val="F0B232"/>
            </a:solidFill>
            <a:prstDash val="solid"/>
          </a:ln>
        </p:spPr>
        <p:txBody>
          <a:bodyPr wrap="square" lIns="49392" tIns="49392" rIns="49392" bIns="49392" rtlCol="0" anchor="ctr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</a:t>
            </a:r>
            <a:endParaRPr lang="en-US" sz="1800" dirty="0"/>
          </a:p>
        </p:txBody>
      </p:sp>
      <p:pic>
        <p:nvPicPr>
          <p:cNvPr id="26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5331123"/>
            <a:ext cx="254000" cy="2540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68400" y="5298182"/>
            <a:ext cx="432744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para documentos grandes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36300" y="177800"/>
            <a:ext cx="228600" cy="45720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769" b="769"/>
          <a:stretch/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B232"/>
          </a:solidFill>
          <a:ln/>
        </p:spPr>
      </p:sp>
      <p:pic>
        <p:nvPicPr>
          <p:cNvPr id="4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578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609600"/>
            <a:ext cx="455092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0B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 na prática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15975" y="1293416"/>
            <a:ext cx="10560050" cy="3797300"/>
          </a:xfrm>
          <a:prstGeom prst="roundRect">
            <a:avLst>
              <a:gd name="adj" fmla="val 1923"/>
            </a:avLst>
          </a:prstGeom>
          <a:solidFill>
            <a:srgbClr val="111214"/>
          </a:solidFill>
          <a:ln w="6350">
            <a:solidFill>
              <a:srgbClr val="3F4147"/>
            </a:solidFill>
            <a:prstDash val="solid"/>
          </a:ln>
          <a:effectLst>
            <a:outerShdw sx="100000" sy="100000" kx="0" ky="0" algn="bl" rotWithShape="0" blurRad="406400" dist="152400" dir="5400000">
              <a:srgbClr val="000000">
                <a:alpha val="5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19150" y="1296591"/>
            <a:ext cx="10553700" cy="241300"/>
          </a:xfrm>
          <a:custGeom>
            <a:avLst/>
            <a:gdLst/>
            <a:ahLst/>
            <a:cxnLst/>
            <a:rect l="l" t="t" r="r" b="b"/>
            <a:pathLst>
              <a:path w="10553700" h="241300">
                <a:moveTo>
                  <a:pt x="0" y="69850"/>
                </a:moveTo>
                <a:arcTo hR="69850" wR="69850" stAng="10800000" swAng="5400000"/>
                <a:lnTo>
                  <a:pt x="10483850" y="0"/>
                </a:lnTo>
                <a:arcTo hR="69850" wR="69850" stAng="16200000" swAng="5400000"/>
                <a:lnTo>
                  <a:pt x="10553700" y="241300"/>
                </a:lnTo>
                <a:lnTo>
                  <a:pt x="0" y="241300"/>
                </a:lnTo>
                <a:close/>
              </a:path>
            </a:pathLst>
          </a:custGeom>
          <a:solidFill>
            <a:srgbClr val="F0B232"/>
          </a:solidFill>
          <a:ln/>
        </p:spPr>
      </p:sp>
      <p:sp>
        <p:nvSpPr>
          <p:cNvPr id="8" name="Shape 4"/>
          <p:cNvSpPr/>
          <p:nvPr/>
        </p:nvSpPr>
        <p:spPr>
          <a:xfrm>
            <a:off x="946150" y="13727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9" name="Shape 5"/>
          <p:cNvSpPr/>
          <p:nvPr/>
        </p:nvSpPr>
        <p:spPr>
          <a:xfrm>
            <a:off x="1098550" y="13727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0" name="Shape 6"/>
          <p:cNvSpPr/>
          <p:nvPr/>
        </p:nvSpPr>
        <p:spPr>
          <a:xfrm>
            <a:off x="1250950" y="137279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1" name="Text 7"/>
          <p:cNvSpPr/>
          <p:nvPr/>
        </p:nvSpPr>
        <p:spPr>
          <a:xfrm>
            <a:off x="1073150" y="166489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with open("minecraft.md", encoding="utf-8") as f: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73150" y="201414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documento = f.read()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73150" y="251579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config = types.GenerateContentConfig(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73150" y="286504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system_instruction=(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73150" y="321429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"Responda só com base no documento abaixo. "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73150" y="356354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"Se não estiver nele, diga que não sabe.\n\n"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073150" y="391279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+ documento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73150" y="426204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),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073150" y="4611291"/>
            <a:ext cx="103470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3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200" dirty="0"/>
          </a:p>
        </p:txBody>
      </p:sp>
      <p:pic>
        <p:nvPicPr>
          <p:cNvPr id="20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5309791"/>
            <a:ext cx="279400" cy="279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9200" y="5271691"/>
            <a:ext cx="6289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2F3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Reinicie o bot e pergunte algo do Minecraft.</a:t>
            </a:r>
            <a:endParaRPr lang="en-US" sz="2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922000" y="101600"/>
            <a:ext cx="457200" cy="45720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769" b="769"/>
          <a:stretch/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9B5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064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FECHAMENTO</a:t>
            </a:r>
            <a:endParaRPr lang="en-US" sz="1800" dirty="0"/>
          </a:p>
        </p:txBody>
      </p:sp>
      <p:pic>
        <p:nvPicPr>
          <p:cNvPr id="4" name="Image 1" descr="Bit de mochila, acenando">    </p:cNvPr>
          <p:cNvPicPr>
            <a:picLocks noChangeAspect="1"/>
          </p:cNvPicPr>
          <p:nvPr/>
        </p:nvPicPr>
        <p:blipFill>
          <a:blip r:embed="rId2"/>
          <a:srcRect l="-46" r="-46" t="0" b="0"/>
          <a:stretch/>
        </p:blipFill>
        <p:spPr>
          <a:xfrm>
            <a:off x="8077200" y="1905000"/>
            <a:ext cx="3302000" cy="32893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812800" y="812800"/>
            <a:ext cx="7063740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calling: a IA pede, seu código executa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9150" y="2053431"/>
            <a:ext cx="6718300" cy="571500"/>
          </a:xfrm>
          <a:prstGeom prst="roundRect">
            <a:avLst>
              <a:gd name="adj" fmla="val 1222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  <p:txBody>
          <a:bodyPr wrap="square" lIns="138292" tIns="87492" rIns="138292" bIns="6209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pergunta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11835" y="2656681"/>
            <a:ext cx="69329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9150" y="2917031"/>
            <a:ext cx="6718300" cy="571500"/>
          </a:xfrm>
          <a:prstGeom prst="roundRect">
            <a:avLst>
              <a:gd name="adj" fmla="val 1222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  <p:txBody>
          <a:bodyPr wrap="square" lIns="138292" tIns="87492" rIns="138292" bIns="6209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decide chamar uma função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835" y="3520281"/>
            <a:ext cx="69329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19150" y="3780631"/>
            <a:ext cx="6718300" cy="571500"/>
          </a:xfrm>
          <a:prstGeom prst="roundRect">
            <a:avLst>
              <a:gd name="adj" fmla="val 1222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  <p:txBody>
          <a:bodyPr wrap="square" lIns="138292" tIns="87492" rIns="138292" bIns="6209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Python executa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11835" y="4383881"/>
            <a:ext cx="69329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19150" y="4644231"/>
            <a:ext cx="6718300" cy="571500"/>
          </a:xfrm>
          <a:prstGeom prst="roundRect">
            <a:avLst>
              <a:gd name="adj" fmla="val 12222"/>
            </a:avLst>
          </a:prstGeom>
          <a:solidFill>
            <a:srgbClr val="1E1F22"/>
          </a:solidFill>
          <a:ln w="12700">
            <a:solidFill>
              <a:srgbClr val="1E1F22"/>
            </a:solidFill>
            <a:prstDash val="solid"/>
          </a:ln>
        </p:spPr>
        <p:txBody>
          <a:bodyPr wrap="square" lIns="138292" tIns="87492" rIns="138292" bIns="6209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usa o resultado na resposta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12800" y="5450681"/>
            <a:ext cx="693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nunca executa nada sozinho.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22000" y="177800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769" b="769"/>
          <a:stretch/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9B59F6"/>
          </a:solidFill>
          <a:ln/>
        </p:spPr>
      </p:sp>
      <p:pic>
        <p:nvPicPr>
          <p:cNvPr id="4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861020"/>
            <a:ext cx="406400" cy="406400"/>
          </a:xfrm>
          <a:prstGeom prst="rect">
            <a:avLst/>
          </a:prstGeom>
        </p:spPr>
      </p:pic>
      <p:sp>
        <p:nvSpPr>
          <p:cNvPr id="5" name="Text 1"/>
          <p:cNvSpPr/>
          <p:nvPr>
            <p:ph type="title"/>
          </p:nvPr>
        </p:nvSpPr>
        <p:spPr>
          <a:xfrm>
            <a:off x="1397000" y="812800"/>
            <a:ext cx="492252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9B59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ir embora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19150" y="1829991"/>
            <a:ext cx="10553700" cy="774700"/>
          </a:xfrm>
          <a:prstGeom prst="roundRect">
            <a:avLst>
              <a:gd name="adj" fmla="val 12295"/>
            </a:avLst>
          </a:prstGeom>
          <a:solidFill>
            <a:srgbClr val="2B2D31"/>
          </a:solidFill>
          <a:ln w="12700">
            <a:solidFill>
              <a:srgbClr val="9B59F6"/>
            </a:solidFill>
            <a:prstDash val="solid"/>
          </a:ln>
        </p:spPr>
        <p:txBody>
          <a:bodyPr wrap="square" lIns="232452" tIns="181652" rIns="232452" bIns="15625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Revogue a chave reserva se usou a da equipe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9150" y="2769791"/>
            <a:ext cx="10553700" cy="774700"/>
          </a:xfrm>
          <a:prstGeom prst="roundRect">
            <a:avLst>
              <a:gd name="adj" fmla="val 12295"/>
            </a:avLst>
          </a:prstGeom>
          <a:solidFill>
            <a:srgbClr val="2B2D31"/>
          </a:solidFill>
          <a:ln w="12700">
            <a:solidFill>
              <a:srgbClr val="9B59F6"/>
            </a:solidFill>
            <a:prstDash val="solid"/>
          </a:ln>
        </p:spPr>
        <p:txBody>
          <a:bodyPr wrap="square" lIns="232452" tIns="181652" rIns="0" bIns="15625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da oficina: https://github.com/stfl-guilherme/Oficina_Chat_Bot_Discord 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9150" y="3709591"/>
            <a:ext cx="10553700" cy="774700"/>
          </a:xfrm>
          <a:prstGeom prst="roundRect">
            <a:avLst>
              <a:gd name="adj" fmla="val 12295"/>
            </a:avLst>
          </a:prstGeom>
          <a:solidFill>
            <a:srgbClr val="2B2D31"/>
          </a:solidFill>
          <a:ln w="12700">
            <a:solidFill>
              <a:srgbClr val="9B59F6"/>
            </a:solidFill>
            <a:prstDash val="solid"/>
          </a:ln>
        </p:spPr>
        <p:txBody>
          <a:bodyPr wrap="square" lIns="232452" tIns="181652" rIns="232452" bIns="156252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passo: comandos de barra (slash commands) e hospedar o bot 24h</a:t>
            </a:r>
            <a:endParaRPr lang="en-US" sz="2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22000" y="177800"/>
            <a:ext cx="457200" cy="4572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769" b="769"/>
          <a:stretch/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ie seu chatbot de IA no Discord com Python">
  <a:themeElements>
    <a:clrScheme name="Crie seu chatbot de IA no Discord com Python">
      <a:dk1>
        <a:srgbClr val="1E1F22"/>
      </a:dk1>
      <a:lt1>
        <a:srgbClr val="FAF9F5"/>
      </a:lt1>
      <a:dk2>
        <a:srgbClr val="343537"/>
      </a:dk2>
      <a:lt2>
        <a:srgbClr val="C3C3C0"/>
      </a:lt2>
      <a:accent1>
        <a:srgbClr val="5865F2"/>
      </a:accent1>
      <a:accent2>
        <a:srgbClr val="F0B232"/>
      </a:accent2>
      <a:accent3>
        <a:srgbClr val="23A55A"/>
      </a:accent3>
      <a:accent4>
        <a:srgbClr val="FF5F57"/>
      </a:accent4>
      <a:accent5>
        <a:srgbClr val="FEBC2E"/>
      </a:accent5>
      <a:accent6>
        <a:srgbClr val="28C840"/>
      </a:accent6>
      <a:hlink>
        <a:srgbClr val="0563C1"/>
      </a:hlink>
      <a:folHlink>
        <a:srgbClr val="954F72"/>
      </a:folHlink>
    </a:clrScheme>
    <a:fontScheme name="Crie seu chatbot de IA no Discord com Pytho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Crie seu chatbot de IA no Discord com Python</dc:title>
  <dc:subject/>
  <dc:creator/>
  <cp:lastModifiedBy/>
  <cp:revision>1</cp:revision>
  <dcterms:created xsi:type="dcterms:W3CDTF">2026-10-22T20:11:08Z</dcterms:created>
  <dcterms:modified xsi:type="dcterms:W3CDTF">2026-10-22T20:11:08Z</dcterms:modified>
</cp:coreProperties>
</file>